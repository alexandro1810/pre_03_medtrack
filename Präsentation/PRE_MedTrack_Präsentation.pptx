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4"/>
  </p:sldMasterIdLst>
  <p:notesMasterIdLst>
    <p:notesMasterId r:id="rId26"/>
  </p:notesMasterIdLst>
  <p:sldIdLst>
    <p:sldId id="310" r:id="rId5"/>
    <p:sldId id="321" r:id="rId6"/>
    <p:sldId id="258" r:id="rId7"/>
    <p:sldId id="314" r:id="rId8"/>
    <p:sldId id="315" r:id="rId9"/>
    <p:sldId id="316" r:id="rId10"/>
    <p:sldId id="317" r:id="rId11"/>
    <p:sldId id="324" r:id="rId12"/>
    <p:sldId id="325" r:id="rId13"/>
    <p:sldId id="326" r:id="rId14"/>
    <p:sldId id="328" r:id="rId15"/>
    <p:sldId id="329" r:id="rId16"/>
    <p:sldId id="330" r:id="rId17"/>
    <p:sldId id="331" r:id="rId18"/>
    <p:sldId id="313" r:id="rId19"/>
    <p:sldId id="323" r:id="rId20"/>
    <p:sldId id="312" r:id="rId21"/>
    <p:sldId id="318" r:id="rId22"/>
    <p:sldId id="319" r:id="rId23"/>
    <p:sldId id="332" r:id="rId24"/>
    <p:sldId id="320" r:id="rId25"/>
  </p:sldIdLst>
  <p:sldSz cx="9144000" cy="5143500" type="screen16x9"/>
  <p:notesSz cx="6858000" cy="9144000"/>
  <p:embeddedFontLst>
    <p:embeddedFont>
      <p:font typeface="Catamaran ExtraLight" panose="020B0604020202020204" charset="0"/>
      <p:regular r:id="rId27"/>
      <p:bold r:id="rId28"/>
    </p:embeddedFont>
    <p:embeddedFont>
      <p:font typeface="Catamaran Medium" panose="020B0604020202020204" charset="0"/>
      <p:regular r:id="rId29"/>
      <p:bold r:id="rId30"/>
    </p:embeddedFont>
    <p:embeddedFont>
      <p:font typeface="Livvic" pitchFamily="2" charset="0"/>
      <p:regular r:id="rId31"/>
      <p:bold r:id="rId32"/>
      <p:italic r:id="rId33"/>
      <p:boldItalic r:id="rId34"/>
    </p:embeddedFont>
    <p:embeddedFont>
      <p:font typeface="Nunito Light" pitchFamily="2" charset="0"/>
      <p:regular r:id="rId35"/>
      <p: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06">
          <p15:clr>
            <a:srgbClr val="747775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B604C1-9A96-4023-9B33-5497FDD5DE5F}">
  <a:tblStyle styleId="{0BB604C1-9A96-4023-9B33-5497FDD5DE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60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7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öhrer Alexander" userId="6d7b90de-cbf3-4db7-9634-c593fb413a83" providerId="ADAL" clId="{8A17E02B-A4E0-4CF4-B98C-ED47F9430996}"/>
    <pc:docChg chg="undo custSel addSld delSld modSld sldOrd">
      <pc:chgData name="Wöhrer Alexander" userId="6d7b90de-cbf3-4db7-9634-c593fb413a83" providerId="ADAL" clId="{8A17E02B-A4E0-4CF4-B98C-ED47F9430996}" dt="2026-09-21T06:02:02.340" v="3712" actId="20577"/>
      <pc:docMkLst>
        <pc:docMk/>
      </pc:docMkLst>
      <pc:sldChg chg="modSp mod ord modTransition">
        <pc:chgData name="Wöhrer Alexander" userId="6d7b90de-cbf3-4db7-9634-c593fb413a83" providerId="ADAL" clId="{8A17E02B-A4E0-4CF4-B98C-ED47F9430996}" dt="2026-09-21T06:02:02.340" v="3712" actId="20577"/>
        <pc:sldMkLst>
          <pc:docMk/>
          <pc:sldMk cId="781444564" sldId="310"/>
        </pc:sldMkLst>
        <pc:spChg chg="mod">
          <ac:chgData name="Wöhrer Alexander" userId="6d7b90de-cbf3-4db7-9634-c593fb413a83" providerId="ADAL" clId="{8A17E02B-A4E0-4CF4-B98C-ED47F9430996}" dt="2026-09-21T06:02:02.340" v="3712" actId="20577"/>
          <ac:spMkLst>
            <pc:docMk/>
            <pc:sldMk cId="781444564" sldId="310"/>
            <ac:spMk id="159" creationId="{411A065A-10B4-F126-09B3-A8C695C66271}"/>
          </ac:spMkLst>
        </pc:spChg>
        <pc:spChg chg="mod">
          <ac:chgData name="Wöhrer Alexander" userId="6d7b90de-cbf3-4db7-9634-c593fb413a83" providerId="ADAL" clId="{8A17E02B-A4E0-4CF4-B98C-ED47F9430996}" dt="2026-09-21T06:01:12.899" v="3679" actId="20577"/>
          <ac:spMkLst>
            <pc:docMk/>
            <pc:sldMk cId="781444564" sldId="310"/>
            <ac:spMk id="160" creationId="{63BDE776-5D90-87DE-9330-08CB1517944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D9764ABE-1CA3-47C8-919B-05F70CAB8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a420aca26_0_266:notes">
            <a:extLst>
              <a:ext uri="{FF2B5EF4-FFF2-40B4-BE49-F238E27FC236}">
                <a16:creationId xmlns:a16="http://schemas.microsoft.com/office/drawing/2014/main" id="{FE9D612E-1555-76BE-96F9-7E85875DA3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55" name="Google Shape;155;g32a420aca26_0_266:notes">
            <a:extLst>
              <a:ext uri="{FF2B5EF4-FFF2-40B4-BE49-F238E27FC236}">
                <a16:creationId xmlns:a16="http://schemas.microsoft.com/office/drawing/2014/main" id="{33E272F9-1A5E-F9F4-91C7-9502F0CEB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291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7698FF6B-C760-0172-E5E0-76C56753B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328874DE-A5F3-B014-9463-0B3277AD4C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AC92C3DD-9CF5-7715-07FA-46A8B296B9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1083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a420aca26_0_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73" name="Google Shape;173;g32a420aca26_0_7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C404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68872E3F-1815-1B85-0700-A3054EC72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C73532DF-441B-DAFD-E2FB-349E580B00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66A60114-82FA-4B2D-8999-FC4223C139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502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4B9AAA76-444F-B46C-7D0D-A507B1DBE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888673E8-F244-043C-9301-24EECC35FA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90C7D827-FABF-4A4C-CC73-AB023862FD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7885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50EC439D-9D76-5A45-239A-187997AC3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ABDD1636-C6DA-19F9-9AD6-7347023456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DF6DBBC9-0A8D-DE8C-01F8-A4E7776852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4694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DC36EC62-DD45-2548-5261-F17884259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8848FAEF-844C-A2EB-1F60-811347C7B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3D1020CF-53EF-7FA7-8572-954EB3C7E4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082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474190BF-62ED-3B0D-D6CD-42022B0E1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1535FE15-D4A8-5781-1474-D284B61C31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E9F5BF4D-F183-A365-E258-7C708CAFF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54485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C8C5D125-B378-0D5C-5AFE-04E3FD293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E75B17C4-EABC-1A30-3D5C-C2E72ECD04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DEF0993F-1249-8EE0-F6C1-AE87869889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9048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E7C2AB6F-F9F9-CCB0-829A-217DD97BE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3C74D690-BD64-6FF4-1093-472CD7DE69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6CE76783-A019-FA53-AF28-EB3531050B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23416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77B5DB3F-6A26-67E2-88C2-BBB4D8F34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02252D2D-63F3-339C-5F85-955E025C3A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B00CA286-6E84-ECE7-9D5F-D6B5B8C361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153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34B70410-4950-1385-EEEE-D2BB32B9E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3961778E-6C0C-DE19-7119-66000584B3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5C0C6CE0-DDFA-D8DA-B096-23BBBC91FA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1172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CC85A5AB-7CB9-5276-20F0-DE87F16D6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72269E9E-EDD4-7F6A-54C1-04A283046A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6D2DB1F5-BD42-B38E-C881-BA2ACF03CB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2882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4192176C-69C1-1A97-EA8D-D282ECE35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B0DC52D4-C911-0B79-78E9-7EF6ABAB6B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9CCC4380-FDCA-01BA-89F3-9A07319778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520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20659A41-CEBC-28A2-5456-FCCA372D7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D63C7E19-FA02-423E-6353-E301FCFFF4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03BE7C99-8759-DE9F-85BF-2967AA209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5044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FF84938C-DA91-C655-863F-9358D3F92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2C2F363B-BC2A-F16A-55C4-366B9C1D0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81847ACC-D4F5-E3AE-ABD8-630983BDC3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73979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CE8B24A5-668B-FFD8-7419-EE55CEABF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DB2BCE25-DEEF-85AF-515A-16830C8A31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2F6A487A-E3A1-E04E-5CBB-DC5D08AB13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77795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E5581F68-3FB2-3EF9-2454-0DA898AC3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4AC833F7-94EA-DE65-B694-F6726C8B29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888D1AA9-4ECE-BCB0-4AB4-DE6853C03A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38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DF190AA8-9015-3795-72C3-E2689B8C3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7175EC81-6347-CC44-0B98-64A32445EE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031492E8-401E-2997-75F8-02D95A215E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90299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521619BE-11C2-5621-62BC-47B35E1E5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420aca26_0_393:notes">
            <a:extLst>
              <a:ext uri="{FF2B5EF4-FFF2-40B4-BE49-F238E27FC236}">
                <a16:creationId xmlns:a16="http://schemas.microsoft.com/office/drawing/2014/main" id="{8828209A-88C6-9C3A-EFBC-EDCBF29480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64" name="Google Shape;164;g32a420aca26_0_393:notes">
            <a:extLst>
              <a:ext uri="{FF2B5EF4-FFF2-40B4-BE49-F238E27FC236}">
                <a16:creationId xmlns:a16="http://schemas.microsoft.com/office/drawing/2014/main" id="{28B6D22C-7A5A-8402-1A0B-764BE280E1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03033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6F2F6EDA-80C7-3FA4-D27F-EB5CF2F25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a420aca26_0_266:notes">
            <a:extLst>
              <a:ext uri="{FF2B5EF4-FFF2-40B4-BE49-F238E27FC236}">
                <a16:creationId xmlns:a16="http://schemas.microsoft.com/office/drawing/2014/main" id="{1530E4B3-CF51-EFDD-D320-08ABFB1660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55" name="Google Shape;155;g32a420aca26_0_266:notes">
            <a:extLst>
              <a:ext uri="{FF2B5EF4-FFF2-40B4-BE49-F238E27FC236}">
                <a16:creationId xmlns:a16="http://schemas.microsoft.com/office/drawing/2014/main" id="{D90B905F-1E35-C822-7A1D-9D2C9B416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7821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575" y="1701225"/>
            <a:ext cx="45924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ubTitle" idx="1"/>
          </p:nvPr>
        </p:nvSpPr>
        <p:spPr>
          <a:xfrm>
            <a:off x="720000" y="1576450"/>
            <a:ext cx="4294800" cy="22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2135550" y="1599688"/>
            <a:ext cx="4872900" cy="118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ubTitle" idx="1"/>
          </p:nvPr>
        </p:nvSpPr>
        <p:spPr>
          <a:xfrm>
            <a:off x="2135550" y="28727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>
            <a:spLocks noGrp="1"/>
          </p:cNvSpPr>
          <p:nvPr>
            <p:ph type="pic" idx="2"/>
          </p:nvPr>
        </p:nvSpPr>
        <p:spPr>
          <a:xfrm>
            <a:off x="-3301" y="0"/>
            <a:ext cx="91506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4010225"/>
            <a:ext cx="7704000" cy="576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01413"/>
            <a:ext cx="6576000" cy="1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14818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3423902" y="38747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3423900" y="802521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title" idx="2" hasCustomPrompt="1"/>
          </p:nvPr>
        </p:nvSpPr>
        <p:spPr>
          <a:xfrm>
            <a:off x="2023007" y="654113"/>
            <a:ext cx="173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4" name="Google Shape;44;p13"/>
          <p:cNvSpPr txBox="1">
            <a:spLocks noGrp="1"/>
          </p:cNvSpPr>
          <p:nvPr>
            <p:ph type="ctrTitle" idx="3"/>
          </p:nvPr>
        </p:nvSpPr>
        <p:spPr>
          <a:xfrm>
            <a:off x="3425264" y="1224286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4"/>
          </p:nvPr>
        </p:nvSpPr>
        <p:spPr>
          <a:xfrm>
            <a:off x="3425259" y="1638859"/>
            <a:ext cx="19767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5" hasCustomPrompt="1"/>
          </p:nvPr>
        </p:nvSpPr>
        <p:spPr>
          <a:xfrm>
            <a:off x="2023007" y="1488788"/>
            <a:ext cx="1615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ctrTitle" idx="6"/>
          </p:nvPr>
        </p:nvSpPr>
        <p:spPr>
          <a:xfrm>
            <a:off x="3427999" y="2061098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7"/>
          </p:nvPr>
        </p:nvSpPr>
        <p:spPr>
          <a:xfrm>
            <a:off x="3427997" y="2475197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8" hasCustomPrompt="1"/>
          </p:nvPr>
        </p:nvSpPr>
        <p:spPr>
          <a:xfrm>
            <a:off x="2023007" y="232346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ctrTitle" idx="9"/>
          </p:nvPr>
        </p:nvSpPr>
        <p:spPr>
          <a:xfrm rot="5400000">
            <a:off x="6672869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ctrTitle" idx="13"/>
          </p:nvPr>
        </p:nvSpPr>
        <p:spPr>
          <a:xfrm>
            <a:off x="3427999" y="2897911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4"/>
          </p:nvPr>
        </p:nvSpPr>
        <p:spPr>
          <a:xfrm>
            <a:off x="3427997" y="3311534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5" hasCustomPrompt="1"/>
          </p:nvPr>
        </p:nvSpPr>
        <p:spPr>
          <a:xfrm>
            <a:off x="2023007" y="3158138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 idx="16"/>
          </p:nvPr>
        </p:nvSpPr>
        <p:spPr>
          <a:xfrm>
            <a:off x="3427999" y="373472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7"/>
          </p:nvPr>
        </p:nvSpPr>
        <p:spPr>
          <a:xfrm>
            <a:off x="3427997" y="4147872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18" hasCustomPrompt="1"/>
          </p:nvPr>
        </p:nvSpPr>
        <p:spPr>
          <a:xfrm>
            <a:off x="2023007" y="399281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5553850" y="131385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subTitle" idx="1"/>
          </p:nvPr>
        </p:nvSpPr>
        <p:spPr>
          <a:xfrm>
            <a:off x="5553975" y="231795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4_2_1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>
            <a:spLocks noGrp="1"/>
          </p:cNvSpPr>
          <p:nvPr>
            <p:ph type="ctrTitle"/>
          </p:nvPr>
        </p:nvSpPr>
        <p:spPr>
          <a:xfrm>
            <a:off x="831200" y="376498"/>
            <a:ext cx="38673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ubTitle" idx="1"/>
          </p:nvPr>
        </p:nvSpPr>
        <p:spPr>
          <a:xfrm>
            <a:off x="831200" y="2314225"/>
            <a:ext cx="30816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0"/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/>
          <p:nvPr/>
        </p:nvSpPr>
        <p:spPr>
          <a:xfrm>
            <a:off x="0" y="1577400"/>
            <a:ext cx="362100" cy="1988700"/>
          </a:xfrm>
          <a:prstGeom prst="rect">
            <a:avLst/>
          </a:prstGeom>
          <a:solidFill>
            <a:srgbClr val="CFC3AC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3" r:id="rId9"/>
    <p:sldLayoutId id="2147483666" r:id="rId10"/>
    <p:sldLayoutId id="2147483676" r:id="rId11"/>
    <p:sldLayoutId id="2147483677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5CA253B3-E593-362A-287B-BE4A5100C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6">
            <a:extLst>
              <a:ext uri="{FF2B5EF4-FFF2-40B4-BE49-F238E27FC236}">
                <a16:creationId xmlns:a16="http://schemas.microsoft.com/office/drawing/2014/main" id="{70AD0CC9-9AF5-9330-934B-FEDD126B7D6A}"/>
              </a:ext>
            </a:extLst>
          </p:cNvPr>
          <p:cNvSpPr/>
          <p:nvPr/>
        </p:nvSpPr>
        <p:spPr>
          <a:xfrm rot="5400000">
            <a:off x="1428875" y="13850"/>
            <a:ext cx="3358800" cy="5026500"/>
          </a:xfrm>
          <a:prstGeom prst="rect">
            <a:avLst/>
          </a:prstGeom>
          <a:solidFill>
            <a:srgbClr val="00B0F0">
              <a:alpha val="86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6">
            <a:extLst>
              <a:ext uri="{FF2B5EF4-FFF2-40B4-BE49-F238E27FC236}">
                <a16:creationId xmlns:a16="http://schemas.microsoft.com/office/drawing/2014/main" id="{411A065A-10B4-F126-09B3-A8C695C6627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9575" y="3206400"/>
            <a:ext cx="3532424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 dirty="0">
                <a:solidFill>
                  <a:schemeClr val="lt1"/>
                </a:solidFill>
              </a:rPr>
              <a:t>Ein Projekt von Alexander Wöhrer, Julian </a:t>
            </a:r>
            <a:r>
              <a:rPr lang="de-AT" dirty="0" err="1">
                <a:solidFill>
                  <a:schemeClr val="lt1"/>
                </a:solidFill>
              </a:rPr>
              <a:t>Tschiltsch</a:t>
            </a:r>
            <a:r>
              <a:rPr lang="de-AT" dirty="0">
                <a:solidFill>
                  <a:schemeClr val="lt1"/>
                </a:solidFill>
              </a:rPr>
              <a:t> &amp; Leon Parzer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 dirty="0">
                <a:solidFill>
                  <a:schemeClr val="lt1"/>
                </a:solidFill>
              </a:rPr>
              <a:t>Betreut von Prof. </a:t>
            </a:r>
            <a:r>
              <a:rPr lang="de-AT">
                <a:solidFill>
                  <a:schemeClr val="lt1"/>
                </a:solidFill>
              </a:rPr>
              <a:t>Stanek</a:t>
            </a:r>
            <a:endParaRPr lang="de-AT" dirty="0">
              <a:solidFill>
                <a:schemeClr val="lt1"/>
              </a:solidFill>
            </a:endParaRPr>
          </a:p>
        </p:txBody>
      </p:sp>
      <p:sp>
        <p:nvSpPr>
          <p:cNvPr id="160" name="Google Shape;160;p36">
            <a:extLst>
              <a:ext uri="{FF2B5EF4-FFF2-40B4-BE49-F238E27FC236}">
                <a16:creationId xmlns:a16="http://schemas.microsoft.com/office/drawing/2014/main" id="{63BDE776-5D90-87DE-9330-08CB1517944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76929" y="2320635"/>
            <a:ext cx="3891139" cy="6305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 sz="4000" dirty="0" err="1">
                <a:solidFill>
                  <a:schemeClr val="lt1"/>
                </a:solidFill>
                <a:latin typeface="Livvic"/>
                <a:ea typeface="Livvic"/>
                <a:cs typeface="Livvic"/>
                <a:sym typeface="Livvic"/>
              </a:rPr>
              <a:t>MedTrack</a:t>
            </a:r>
            <a:endParaRPr sz="4000" dirty="0">
              <a:solidFill>
                <a:schemeClr val="lt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5F6A8C44-D3F9-991F-521F-B68EF97F09C7}"/>
              </a:ext>
            </a:extLst>
          </p:cNvPr>
          <p:cNvSpPr/>
          <p:nvPr/>
        </p:nvSpPr>
        <p:spPr>
          <a:xfrm>
            <a:off x="4788955" y="491925"/>
            <a:ext cx="4070350" cy="40703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9ECF852-5B60-8130-6EDA-04B193B77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023" y="581224"/>
            <a:ext cx="3880905" cy="388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44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D7F10E9A-A22C-C58B-3C50-0D6EF94D0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5F65C132-3BEA-06A9-0ED8-30099D0661E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ABSCHNITT</a:t>
            </a:r>
            <a:endParaRPr/>
          </a:p>
        </p:txBody>
      </p:sp>
      <p:sp>
        <p:nvSpPr>
          <p:cNvPr id="167" name="Google Shape;167;p37">
            <a:extLst>
              <a:ext uri="{FF2B5EF4-FFF2-40B4-BE49-F238E27FC236}">
                <a16:creationId xmlns:a16="http://schemas.microsoft.com/office/drawing/2014/main" id="{F2CA3DB3-49F5-B021-6C2A-6772E81349E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 flipH="1">
            <a:off x="2447876" y="1315854"/>
            <a:ext cx="5123633" cy="4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de-DE" sz="9600"/>
              <a:t>[VIDEO]</a:t>
            </a:r>
            <a:endParaRPr sz="9600"/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E0E5CB13-8694-1441-F75E-05E84845C2E4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14622CDB-7279-CB2A-55ED-9E08416F05A5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7">
            <a:extLst>
              <a:ext uri="{FF2B5EF4-FFF2-40B4-BE49-F238E27FC236}">
                <a16:creationId xmlns:a16="http://schemas.microsoft.com/office/drawing/2014/main" id="{940435F3-BE91-2A37-FB4A-D2DBEAA59A37}"/>
              </a:ext>
            </a:extLst>
          </p:cNvPr>
          <p:cNvSpPr txBox="1"/>
          <p:nvPr/>
        </p:nvSpPr>
        <p:spPr>
          <a:xfrm>
            <a:off x="714350" y="4124800"/>
            <a:ext cx="62142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atamaran ExtraLight"/>
              <a:ea typeface="Catamaran ExtraLight"/>
              <a:cs typeface="Catamaran ExtraLight"/>
              <a:sym typeface="Catamaran ExtraLight"/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F621C462-84B5-0A3C-8C50-B250BA4DA6B5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BE6B779-B52A-CBAA-7429-A2A3D763D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69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8"/>
          <p:cNvSpPr txBox="1">
            <a:spLocks noGrp="1"/>
          </p:cNvSpPr>
          <p:nvPr>
            <p:ph type="subTitle" idx="14"/>
          </p:nvPr>
        </p:nvSpPr>
        <p:spPr>
          <a:xfrm>
            <a:off x="3436468" y="3280314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haben wir gut gemacht?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haben wir mitgenommen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Erkenntnisse</a:t>
            </a:r>
            <a:endParaRPr/>
          </a:p>
        </p:txBody>
      </p:sp>
      <p:sp>
        <p:nvSpPr>
          <p:cNvPr id="176" name="Google Shape;176;p38"/>
          <p:cNvSpPr txBox="1">
            <a:spLocks noGrp="1"/>
          </p:cNvSpPr>
          <p:nvPr>
            <p:ph type="subTitle" idx="17"/>
          </p:nvPr>
        </p:nvSpPr>
        <p:spPr>
          <a:xfrm>
            <a:off x="3423900" y="4260937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Projektvorführung</a:t>
            </a:r>
            <a:endParaRPr/>
          </a:p>
        </p:txBody>
      </p:sp>
      <p:sp>
        <p:nvSpPr>
          <p:cNvPr id="177" name="Google Shape;177;p38"/>
          <p:cNvSpPr txBox="1">
            <a:spLocks noGrp="1"/>
          </p:cNvSpPr>
          <p:nvPr>
            <p:ph type="ctrTitle" idx="13"/>
          </p:nvPr>
        </p:nvSpPr>
        <p:spPr>
          <a:xfrm>
            <a:off x="3427999" y="2897911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de-DE"/>
              <a:t>LESSONS LEARNED</a:t>
            </a:r>
          </a:p>
        </p:txBody>
      </p:sp>
      <p:sp>
        <p:nvSpPr>
          <p:cNvPr id="178" name="Google Shape;178;p38"/>
          <p:cNvSpPr txBox="1">
            <a:spLocks noGrp="1"/>
          </p:cNvSpPr>
          <p:nvPr>
            <p:ph type="ctrTitle" idx="16"/>
          </p:nvPr>
        </p:nvSpPr>
        <p:spPr>
          <a:xfrm>
            <a:off x="3416793" y="3852714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PROJEKT VORFÜHRUNG</a:t>
            </a:r>
            <a:endParaRPr/>
          </a:p>
        </p:txBody>
      </p:sp>
      <p:sp>
        <p:nvSpPr>
          <p:cNvPr id="179" name="Google Shape;179;p38"/>
          <p:cNvSpPr/>
          <p:nvPr/>
        </p:nvSpPr>
        <p:spPr>
          <a:xfrm rot="-5400000" flipH="1">
            <a:off x="-957850" y="957900"/>
            <a:ext cx="5140800" cy="3225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8"/>
          <p:cNvSpPr txBox="1">
            <a:spLocks noGrp="1"/>
          </p:cNvSpPr>
          <p:nvPr>
            <p:ph type="title" idx="8"/>
          </p:nvPr>
        </p:nvSpPr>
        <p:spPr>
          <a:xfrm>
            <a:off x="2023007" y="232346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81" name="Google Shape;181;p38"/>
          <p:cNvSpPr txBox="1">
            <a:spLocks noGrp="1"/>
          </p:cNvSpPr>
          <p:nvPr>
            <p:ph type="title" idx="2"/>
          </p:nvPr>
        </p:nvSpPr>
        <p:spPr>
          <a:xfrm>
            <a:off x="2023007" y="654113"/>
            <a:ext cx="173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82" name="Google Shape;182;p38"/>
          <p:cNvSpPr txBox="1">
            <a:spLocks noGrp="1"/>
          </p:cNvSpPr>
          <p:nvPr>
            <p:ph type="title" idx="5"/>
          </p:nvPr>
        </p:nvSpPr>
        <p:spPr>
          <a:xfrm>
            <a:off x="2023007" y="1488788"/>
            <a:ext cx="1615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3" name="Google Shape;183;p38"/>
          <p:cNvSpPr txBox="1">
            <a:spLocks noGrp="1"/>
          </p:cNvSpPr>
          <p:nvPr>
            <p:ph type="title" idx="15"/>
          </p:nvPr>
        </p:nvSpPr>
        <p:spPr>
          <a:xfrm>
            <a:off x="2023007" y="3158138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84" name="Google Shape;184;p38"/>
          <p:cNvSpPr txBox="1">
            <a:spLocks noGrp="1"/>
          </p:cNvSpPr>
          <p:nvPr>
            <p:ph type="title" idx="18"/>
          </p:nvPr>
        </p:nvSpPr>
        <p:spPr>
          <a:xfrm>
            <a:off x="2023007" y="399281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85" name="Google Shape;185;p38"/>
          <p:cNvSpPr txBox="1">
            <a:spLocks noGrp="1"/>
          </p:cNvSpPr>
          <p:nvPr>
            <p:ph type="ctrTitle" idx="9"/>
          </p:nvPr>
        </p:nvSpPr>
        <p:spPr>
          <a:xfrm rot="5400000">
            <a:off x="6575227" y="1718148"/>
            <a:ext cx="3581782" cy="90566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INHALTSVERZEICHNIS</a:t>
            </a:r>
            <a:endParaRPr/>
          </a:p>
        </p:txBody>
      </p:sp>
      <p:sp>
        <p:nvSpPr>
          <p:cNvPr id="186" name="Google Shape;186;p38"/>
          <p:cNvSpPr txBox="1">
            <a:spLocks noGrp="1"/>
          </p:cNvSpPr>
          <p:nvPr>
            <p:ph type="subTitle" idx="7"/>
          </p:nvPr>
        </p:nvSpPr>
        <p:spPr>
          <a:xfrm>
            <a:off x="3422240" y="2445639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Muss-Ziele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Soll-Ziele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Kann-Ziele</a:t>
            </a:r>
            <a:endParaRPr/>
          </a:p>
        </p:txBody>
      </p:sp>
      <p:sp>
        <p:nvSpPr>
          <p:cNvPr id="187" name="Google Shape;187;p38"/>
          <p:cNvSpPr txBox="1">
            <a:spLocks noGrp="1"/>
          </p:cNvSpPr>
          <p:nvPr>
            <p:ph type="ctrTitle" idx="6"/>
          </p:nvPr>
        </p:nvSpPr>
        <p:spPr>
          <a:xfrm>
            <a:off x="3427999" y="2061098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 PROJEKT ZIEL</a:t>
            </a:r>
            <a:endParaRPr/>
          </a:p>
        </p:txBody>
      </p:sp>
      <p:sp>
        <p:nvSpPr>
          <p:cNvPr id="188" name="Google Shape;188;p38"/>
          <p:cNvSpPr txBox="1">
            <a:spLocks noGrp="1"/>
          </p:cNvSpPr>
          <p:nvPr>
            <p:ph type="ctrTitle"/>
          </p:nvPr>
        </p:nvSpPr>
        <p:spPr>
          <a:xfrm>
            <a:off x="3423902" y="38747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ÜBER UNSER PROJEKT</a:t>
            </a:r>
            <a:endParaRPr/>
          </a:p>
        </p:txBody>
      </p:sp>
      <p:sp>
        <p:nvSpPr>
          <p:cNvPr id="189" name="Google Shape;189;p38"/>
          <p:cNvSpPr txBox="1">
            <a:spLocks noGrp="1"/>
          </p:cNvSpPr>
          <p:nvPr>
            <p:ph type="subTitle" idx="1"/>
          </p:nvPr>
        </p:nvSpPr>
        <p:spPr>
          <a:xfrm>
            <a:off x="3423900" y="776316"/>
            <a:ext cx="1906500" cy="5439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Grundidee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Verwendete Ressourcen</a:t>
            </a:r>
            <a:endParaRPr/>
          </a:p>
        </p:txBody>
      </p:sp>
      <p:sp>
        <p:nvSpPr>
          <p:cNvPr id="190" name="Google Shape;190;p38"/>
          <p:cNvSpPr txBox="1">
            <a:spLocks noGrp="1"/>
          </p:cNvSpPr>
          <p:nvPr>
            <p:ph type="ctrTitle" idx="3"/>
          </p:nvPr>
        </p:nvSpPr>
        <p:spPr>
          <a:xfrm>
            <a:off x="3416793" y="1825845"/>
            <a:ext cx="2378573" cy="1768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TECHNISCHE MITTEL &amp; VORRAUSSETZUNGEN</a:t>
            </a:r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subTitle" idx="4"/>
          </p:nvPr>
        </p:nvSpPr>
        <p:spPr>
          <a:xfrm>
            <a:off x="3423900" y="1789792"/>
            <a:ext cx="19767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</a:t>
            </a:r>
            <a:endParaRPr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45615CA-7EC0-4B62-9D54-B6E22755429E}"/>
              </a:ext>
            </a:extLst>
          </p:cNvPr>
          <p:cNvSpPr/>
          <p:nvPr/>
        </p:nvSpPr>
        <p:spPr>
          <a:xfrm>
            <a:off x="7963626" y="4108934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3631D3D-CC5C-1FA5-34DB-FDE5C9EB2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8EEC0D0A-7A6D-6371-B2A5-D97CDFBA5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2DCEE0D4-2071-42F0-75FA-6598E6F5CB8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ÜBER UNSER PROJEKT</a:t>
            </a:r>
            <a:endParaRPr/>
          </a:p>
        </p:txBody>
      </p:sp>
      <p:sp>
        <p:nvSpPr>
          <p:cNvPr id="167" name="Google Shape;167;p37">
            <a:extLst>
              <a:ext uri="{FF2B5EF4-FFF2-40B4-BE49-F238E27FC236}">
                <a16:creationId xmlns:a16="http://schemas.microsoft.com/office/drawing/2014/main" id="{23F477D8-62DC-94C7-C806-27FF320DF35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 flipH="1">
            <a:off x="714350" y="548400"/>
            <a:ext cx="5823600" cy="46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/>
              <a:t>Grundidee</a:t>
            </a:r>
            <a:endParaRPr lang="de-AT" sz="2000"/>
          </a:p>
          <a:p>
            <a:pPr marL="342900" indent="-342900"/>
            <a:r>
              <a:rPr lang="de-AT" sz="2000"/>
              <a:t>webbasiertes System </a:t>
            </a:r>
          </a:p>
          <a:p>
            <a:pPr marL="342900" indent="-342900"/>
            <a:r>
              <a:rPr lang="de-AT" sz="2000"/>
              <a:t>Steuerung und Überwachung von Raumlicht</a:t>
            </a:r>
          </a:p>
          <a:p>
            <a:pPr marL="342900" indent="-342900"/>
            <a:r>
              <a:rPr lang="de-AT" sz="2000"/>
              <a:t>Wenn möglich Zeiteinstellungen</a:t>
            </a:r>
          </a:p>
          <a:p>
            <a:pPr marL="0" indent="0">
              <a:buNone/>
            </a:pPr>
            <a:endParaRPr lang="de-AT" sz="2000"/>
          </a:p>
          <a:p>
            <a:pPr marL="0" indent="0">
              <a:buNone/>
            </a:pPr>
            <a:r>
              <a:rPr lang="de-AT" sz="2000"/>
              <a:t>Das System:</a:t>
            </a:r>
          </a:p>
          <a:p>
            <a:pPr marL="342900" indent="-342900"/>
            <a:r>
              <a:rPr lang="de-AT" sz="2000"/>
              <a:t>Erfasst Lichtstatus</a:t>
            </a:r>
          </a:p>
          <a:p>
            <a:pPr marL="342900" indent="-342900"/>
            <a:r>
              <a:rPr lang="de-AT" sz="2000"/>
              <a:t>Speichert Zeitpunkte</a:t>
            </a:r>
          </a:p>
          <a:p>
            <a:pPr marL="342900" indent="-342900"/>
            <a:r>
              <a:rPr lang="de-AT" sz="2000"/>
              <a:t>Anzeige aktueller sowie historischer Daten</a:t>
            </a:r>
          </a:p>
          <a:p>
            <a:pPr marL="342900" indent="-342900"/>
            <a:r>
              <a:rPr lang="de-AT" sz="2000"/>
              <a:t>Lichter sind ansteuerbar (AN/AUS)</a:t>
            </a:r>
          </a:p>
          <a:p>
            <a:pPr marL="0" indent="0">
              <a:buNone/>
            </a:pPr>
            <a:endParaRPr lang="de-AT" sz="2000"/>
          </a:p>
          <a:p>
            <a:pPr marL="0" indent="0">
              <a:buNone/>
            </a:pPr>
            <a:r>
              <a:rPr lang="de-AT" sz="2000"/>
              <a:t>NICHT:</a:t>
            </a:r>
          </a:p>
          <a:p>
            <a:pPr marL="342900" indent="-342900"/>
            <a:r>
              <a:rPr lang="de-AT" sz="2000"/>
              <a:t>Eigene Applikation</a:t>
            </a:r>
          </a:p>
          <a:p>
            <a:pPr marL="342900" indent="-342900"/>
            <a:r>
              <a:rPr lang="de-AT" sz="2000"/>
              <a:t>Multiple Raumsteuerung</a:t>
            </a:r>
          </a:p>
          <a:p>
            <a:pPr marL="0" indent="0">
              <a:buNone/>
            </a:pPr>
            <a:endParaRPr lang="de-AT" sz="20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000"/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55D34D72-E316-4699-80AF-F5072617ACEE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7188569A-EF62-CE67-1B8E-8E94E0668A42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7">
            <a:extLst>
              <a:ext uri="{FF2B5EF4-FFF2-40B4-BE49-F238E27FC236}">
                <a16:creationId xmlns:a16="http://schemas.microsoft.com/office/drawing/2014/main" id="{775BFBC2-4E53-BCE3-BD84-9B64F9455C25}"/>
              </a:ext>
            </a:extLst>
          </p:cNvPr>
          <p:cNvSpPr txBox="1"/>
          <p:nvPr/>
        </p:nvSpPr>
        <p:spPr>
          <a:xfrm>
            <a:off x="714350" y="4124800"/>
            <a:ext cx="62142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atamaran ExtraLight"/>
              <a:ea typeface="Catamaran ExtraLight"/>
              <a:cs typeface="Catamaran ExtraLight"/>
              <a:sym typeface="Catamaran ExtraLight"/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E6636E8-E45D-F9EC-3DA3-2E9E2993AA2E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FEBD290-52CA-8903-6E79-27F013F9D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270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62311072-AAD5-5D10-6578-9A0ABF6AB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FBD3177D-410C-E054-2237-B3106665CFD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ÜBER UNSER PROJEKT</a:t>
            </a:r>
            <a:endParaRPr/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7304849C-0487-DE93-A048-EE9ADB5DF5B9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8F5ADED1-4DB1-E8C0-CE71-F4501DA34673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4990D9A4-36C1-18AE-F4FF-DD1FD9F14257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34A6809-A14A-0396-F792-B16B67AB0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  <p:sp>
        <p:nvSpPr>
          <p:cNvPr id="8" name="Google Shape;168;p37">
            <a:extLst>
              <a:ext uri="{FF2B5EF4-FFF2-40B4-BE49-F238E27FC236}">
                <a16:creationId xmlns:a16="http://schemas.microsoft.com/office/drawing/2014/main" id="{79D49C96-4788-357A-8065-86637D76E222}"/>
              </a:ext>
            </a:extLst>
          </p:cNvPr>
          <p:cNvSpPr/>
          <p:nvPr/>
        </p:nvSpPr>
        <p:spPr>
          <a:xfrm rot="-5400000" flipH="1">
            <a:off x="1667418" y="-258749"/>
            <a:ext cx="1504599" cy="326486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glow rad="12700">
              <a:schemeClr val="accent1">
                <a:alpha val="40000"/>
              </a:schemeClr>
            </a:glow>
            <a:softEdge rad="3810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AD6D8E0-07B6-DD91-C7C7-8C1DF99F99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14" t="2289" r="5331" b="8143"/>
          <a:stretch>
            <a:fillRect/>
          </a:stretch>
        </p:blipFill>
        <p:spPr>
          <a:xfrm rot="5400000">
            <a:off x="692298" y="971468"/>
            <a:ext cx="1255781" cy="88777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073F457-4FDB-92A8-9EFE-6ECABA3CD4CC}"/>
              </a:ext>
            </a:extLst>
          </p:cNvPr>
          <p:cNvSpPr txBox="1"/>
          <p:nvPr/>
        </p:nvSpPr>
        <p:spPr>
          <a:xfrm>
            <a:off x="1764077" y="702960"/>
            <a:ext cx="24460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Alexander Wöhrer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Teamleiter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Gesamtkoordination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Full-Stack-Entwicklung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Git-Managment</a:t>
            </a:r>
          </a:p>
        </p:txBody>
      </p:sp>
      <p:sp>
        <p:nvSpPr>
          <p:cNvPr id="10" name="Google Shape;168;p37">
            <a:extLst>
              <a:ext uri="{FF2B5EF4-FFF2-40B4-BE49-F238E27FC236}">
                <a16:creationId xmlns:a16="http://schemas.microsoft.com/office/drawing/2014/main" id="{EFECA96A-B80C-31CE-B815-23695E8B39CB}"/>
              </a:ext>
            </a:extLst>
          </p:cNvPr>
          <p:cNvSpPr/>
          <p:nvPr/>
        </p:nvSpPr>
        <p:spPr>
          <a:xfrm rot="16200000" flipH="1">
            <a:off x="1667418" y="1815525"/>
            <a:ext cx="1504599" cy="326486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glow rad="12700">
              <a:schemeClr val="accent1">
                <a:alpha val="40000"/>
              </a:schemeClr>
            </a:glow>
            <a:softEdge rad="3810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E1C2FB0-629A-013B-E2DC-9124241C97DC}"/>
              </a:ext>
            </a:extLst>
          </p:cNvPr>
          <p:cNvSpPr txBox="1"/>
          <p:nvPr/>
        </p:nvSpPr>
        <p:spPr>
          <a:xfrm>
            <a:off x="1764077" y="2738595"/>
            <a:ext cx="22880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Julian Tschiltsch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Hardwareaufbau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Video Material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Lötarbeit &amp; Verkabelung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Shelly</a:t>
            </a:r>
          </a:p>
        </p:txBody>
      </p:sp>
      <p:sp>
        <p:nvSpPr>
          <p:cNvPr id="20" name="Google Shape;168;p37">
            <a:extLst>
              <a:ext uri="{FF2B5EF4-FFF2-40B4-BE49-F238E27FC236}">
                <a16:creationId xmlns:a16="http://schemas.microsoft.com/office/drawing/2014/main" id="{2D299F4C-DE90-9AE1-225D-B2AD610AC352}"/>
              </a:ext>
            </a:extLst>
          </p:cNvPr>
          <p:cNvSpPr/>
          <p:nvPr/>
        </p:nvSpPr>
        <p:spPr>
          <a:xfrm rot="-5400000" flipH="1">
            <a:off x="5245024" y="-258749"/>
            <a:ext cx="1504599" cy="326486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glow rad="12700">
              <a:schemeClr val="accent1">
                <a:alpha val="40000"/>
              </a:schemeClr>
            </a:glow>
            <a:softEdge rad="3810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7EF8F11D-04E4-86DA-02EB-16F94BFAB132}"/>
              </a:ext>
            </a:extLst>
          </p:cNvPr>
          <p:cNvSpPr txBox="1"/>
          <p:nvPr/>
        </p:nvSpPr>
        <p:spPr>
          <a:xfrm>
            <a:off x="5341681" y="702960"/>
            <a:ext cx="24460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Philipp Figl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Code-Mitwirkend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Gesamtkoordination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Videomaterial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Dokumentation</a:t>
            </a:r>
          </a:p>
        </p:txBody>
      </p:sp>
      <p:sp>
        <p:nvSpPr>
          <p:cNvPr id="26" name="Google Shape;168;p37">
            <a:extLst>
              <a:ext uri="{FF2B5EF4-FFF2-40B4-BE49-F238E27FC236}">
                <a16:creationId xmlns:a16="http://schemas.microsoft.com/office/drawing/2014/main" id="{31E16DAC-165D-8783-1AB9-DACEC9D5B32E}"/>
              </a:ext>
            </a:extLst>
          </p:cNvPr>
          <p:cNvSpPr/>
          <p:nvPr/>
        </p:nvSpPr>
        <p:spPr>
          <a:xfrm rot="-5400000" flipH="1">
            <a:off x="5283492" y="1798662"/>
            <a:ext cx="1504599" cy="326486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glow rad="12700">
              <a:schemeClr val="accent1">
                <a:alpha val="40000"/>
              </a:schemeClr>
            </a:glow>
            <a:softEdge rad="3810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F10AF366-AA69-686D-B207-2DFFB2A8E0DA}"/>
              </a:ext>
            </a:extLst>
          </p:cNvPr>
          <p:cNvSpPr txBox="1"/>
          <p:nvPr/>
        </p:nvSpPr>
        <p:spPr>
          <a:xfrm>
            <a:off x="5379649" y="2755693"/>
            <a:ext cx="24460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Felix Huber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Status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Videomaterial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Hardware-Mitwirkend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Dokumentation</a:t>
            </a:r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BF284CD0-C6F8-0886-B1C2-4F481AC316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93766" y="3043140"/>
            <a:ext cx="1276985" cy="818844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27525E84-F21D-0094-1DC9-EBD0F7C5462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858" b="6040"/>
          <a:stretch>
            <a:fillRect/>
          </a:stretch>
        </p:blipFill>
        <p:spPr>
          <a:xfrm>
            <a:off x="4484371" y="814472"/>
            <a:ext cx="909370" cy="12017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B1F3CC-6D1B-16B5-5DAC-AC2D93E177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154" y="2873599"/>
            <a:ext cx="797861" cy="111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20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D711952F-27A3-5862-F0EA-5BAC8467B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7EC5CB82-8A92-79C8-34DD-9B01743A975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ÜBER UNSER PROJEKT</a:t>
            </a:r>
            <a:endParaRPr/>
          </a:p>
        </p:txBody>
      </p:sp>
      <p:sp>
        <p:nvSpPr>
          <p:cNvPr id="167" name="Google Shape;167;p37">
            <a:extLst>
              <a:ext uri="{FF2B5EF4-FFF2-40B4-BE49-F238E27FC236}">
                <a16:creationId xmlns:a16="http://schemas.microsoft.com/office/drawing/2014/main" id="{7D441ACC-CF3E-85FC-1260-BD41DF80E29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 flipH="1">
            <a:off x="720075" y="540000"/>
            <a:ext cx="5823600" cy="4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/>
              <a:t>Verwendete Applikationen / </a:t>
            </a:r>
            <a:r>
              <a:rPr lang="de-DE" sz="2000" err="1"/>
              <a:t>Websiten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r>
              <a:rPr lang="de-DE" sz="2000"/>
              <a:t>VSC </a:t>
            </a:r>
          </a:p>
          <a:p>
            <a:r>
              <a:rPr lang="de-DE" sz="2000"/>
              <a:t>Teams</a:t>
            </a:r>
          </a:p>
          <a:p>
            <a:r>
              <a:rPr lang="de-DE" sz="2000"/>
              <a:t>GitHub</a:t>
            </a:r>
          </a:p>
          <a:p>
            <a:r>
              <a:rPr lang="de-DE" sz="2000"/>
              <a:t>Docker</a:t>
            </a:r>
          </a:p>
          <a:p>
            <a:r>
              <a:rPr lang="de-DE" sz="2000"/>
              <a:t>MS Project</a:t>
            </a:r>
          </a:p>
          <a:p>
            <a:r>
              <a:rPr lang="de-DE" sz="2000"/>
              <a:t>Word</a:t>
            </a:r>
          </a:p>
          <a:p>
            <a:r>
              <a:rPr lang="de-DE" sz="2000" err="1"/>
              <a:t>DataGrip</a:t>
            </a:r>
            <a:endParaRPr lang="de-DE" sz="2000"/>
          </a:p>
          <a:p>
            <a:r>
              <a:rPr lang="de-DE" sz="2000"/>
              <a:t>ChatGPT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000"/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C277130E-DE4D-4A5A-F7B0-72CC5E3E9E72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B21D0E00-B60E-6839-DCB6-9ED45F651C70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2534A04-A98B-C0EF-EFF0-901D955255E0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B3A69F6-D6B2-C883-770E-8B11CFD10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  <p:pic>
        <p:nvPicPr>
          <p:cNvPr id="1032" name="Picture 8" descr="GitHub logo PNG transparent image download, size: 1125x417px">
            <a:extLst>
              <a:ext uri="{FF2B5EF4-FFF2-40B4-BE49-F238E27FC236}">
                <a16:creationId xmlns:a16="http://schemas.microsoft.com/office/drawing/2014/main" id="{79B2268F-5046-B709-258B-EE32D6C51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819" y="548400"/>
            <a:ext cx="2378087" cy="881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ocker mark logo in vector formats EPS, SVG - Brandlogos.net">
            <a:extLst>
              <a:ext uri="{FF2B5EF4-FFF2-40B4-BE49-F238E27FC236}">
                <a16:creationId xmlns:a16="http://schemas.microsoft.com/office/drawing/2014/main" id="{988F6AF1-C736-E945-A337-04280B517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801" y="1176185"/>
            <a:ext cx="1009498" cy="796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13072BE-A167-C30B-375C-0A6B05A45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143" y="1360547"/>
            <a:ext cx="844926" cy="89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50D8A73C-43F8-8B2A-8038-C57CB222F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379" y="1969878"/>
            <a:ext cx="1174090" cy="1174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68F1F955-36E6-DE41-A18A-B45A762B2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606" y="2833138"/>
            <a:ext cx="981544" cy="101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Datagrip icon - Free Download PNG &amp; SVG | Streamline">
            <a:extLst>
              <a:ext uri="{FF2B5EF4-FFF2-40B4-BE49-F238E27FC236}">
                <a16:creationId xmlns:a16="http://schemas.microsoft.com/office/drawing/2014/main" id="{1E215880-396C-E793-E7ED-624704CCF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909" y="1069714"/>
            <a:ext cx="1009498" cy="1009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E1D4FCCF-8FB2-54B3-9DD0-4009CD565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274" y="2307633"/>
            <a:ext cx="1009498" cy="1009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MS WEB Core VSC Framework for creating modern web applications from Visual  Studio Code with Object Pascal">
            <a:extLst>
              <a:ext uri="{FF2B5EF4-FFF2-40B4-BE49-F238E27FC236}">
                <a16:creationId xmlns:a16="http://schemas.microsoft.com/office/drawing/2014/main" id="{FF1734F4-BA7F-F984-3165-DC03C7423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001" y="2994053"/>
            <a:ext cx="1839773" cy="137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354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6E54B11A-DE11-A889-2528-693D8CACB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00DAFFB0-43C2-CC9C-3F1F-D0A60C5390C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TECHNISCHE MITTEL</a:t>
            </a:r>
            <a:endParaRPr/>
          </a:p>
        </p:txBody>
      </p:sp>
      <p:sp>
        <p:nvSpPr>
          <p:cNvPr id="167" name="Google Shape;167;p37">
            <a:extLst>
              <a:ext uri="{FF2B5EF4-FFF2-40B4-BE49-F238E27FC236}">
                <a16:creationId xmlns:a16="http://schemas.microsoft.com/office/drawing/2014/main" id="{B911E055-5B13-56A3-DAD4-5849C26C131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 flipH="1">
            <a:off x="720075" y="540000"/>
            <a:ext cx="5823600" cy="4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/>
              <a:t>Hardware - Komponente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000"/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E4D3485F-4F87-D7F8-ACEB-75722414C4B8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DE8DE145-2F5F-495E-00B5-D0BE437547ED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D5206131-98D9-4ADC-170C-234EE74B5FEA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F4E6A76-0125-D160-067F-93D002B7E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1911948-445F-D72D-E249-865405FD2737}"/>
              </a:ext>
            </a:extLst>
          </p:cNvPr>
          <p:cNvSpPr txBox="1"/>
          <p:nvPr/>
        </p:nvSpPr>
        <p:spPr>
          <a:xfrm>
            <a:off x="556055" y="1421823"/>
            <a:ext cx="6032814" cy="24622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1x LED-Driver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de-DE" sz="2000"/>
              <a:t>3x Shelly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3x LED-Lampe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3x Widerstand (1k</a:t>
            </a:r>
            <a:r>
              <a:rPr lang="el-GR" sz="2000"/>
              <a:t>Ω</a:t>
            </a:r>
            <a:r>
              <a:rPr lang="de-DE" sz="200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9x Verbindungskabel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2x WAGO-Klemme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1x Leistungsstarker Hotspot</a:t>
            </a:r>
            <a:endParaRPr lang="de-AT" sz="2000"/>
          </a:p>
          <a:p>
            <a:endParaRPr lang="de-DE"/>
          </a:p>
        </p:txBody>
      </p:sp>
      <p:pic>
        <p:nvPicPr>
          <p:cNvPr id="5" name="Grafik 4" descr="The image shows a complex electrical setup with various components including LED drivers, protection devices, and a Shelly Gen4 smart switch.&#10;&#10;KI-generierte Inhalte können fehlerhaft sein.">
            <a:extLst>
              <a:ext uri="{FF2B5EF4-FFF2-40B4-BE49-F238E27FC236}">
                <a16:creationId xmlns:a16="http://schemas.microsoft.com/office/drawing/2014/main" id="{26DFFAE3-EAD5-7618-27C4-D485AF418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470" y="441226"/>
            <a:ext cx="2769337" cy="3692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627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F7A56423-EDC9-0577-2C41-C416F1EAF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6AA5207E-DBF1-DA7B-3840-2F4BBF9EBEB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TECHNISCHE MITTEL</a:t>
            </a:r>
            <a:endParaRPr/>
          </a:p>
        </p:txBody>
      </p:sp>
      <p:sp>
        <p:nvSpPr>
          <p:cNvPr id="167" name="Google Shape;167;p37">
            <a:extLst>
              <a:ext uri="{FF2B5EF4-FFF2-40B4-BE49-F238E27FC236}">
                <a16:creationId xmlns:a16="http://schemas.microsoft.com/office/drawing/2014/main" id="{A6A76593-16E5-1475-E63B-082B6AA58E8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 flipH="1">
            <a:off x="720075" y="540000"/>
            <a:ext cx="5823600" cy="4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/>
              <a:t>Hardware - Schaltplan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000"/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5395691E-15E1-6C5E-9BF7-1AF5CCAD7A42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3ADADE3A-0054-4984-5D9B-E78934B46341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9FE48E31-D993-A0F0-9B0C-013CE81BE97F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0564190-6829-423D-5467-AE6CD7407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  <p:pic>
        <p:nvPicPr>
          <p:cNvPr id="5" name="Grafik 4" descr="The image shows a complex electrical setup with various components including LED drivers, protection devices, and a Shelly Gen4 smart switch.&#10;&#10;KI-generierte Inhalte können fehlerhaft sein.">
            <a:extLst>
              <a:ext uri="{FF2B5EF4-FFF2-40B4-BE49-F238E27FC236}">
                <a16:creationId xmlns:a16="http://schemas.microsoft.com/office/drawing/2014/main" id="{79BD2302-2380-8585-6866-D88079520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798" y="441226"/>
            <a:ext cx="2769337" cy="3692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732983C-AA71-2EA0-6960-198975FCA6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13966"/>
            <a:ext cx="4978974" cy="227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892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CEDED79D-773E-B3E9-F64D-3497867D9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A6B2E3BC-BBA3-68E8-6FDB-158AA663AAD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TECHNISCHE MITTEL</a:t>
            </a:r>
            <a:endParaRPr/>
          </a:p>
        </p:txBody>
      </p:sp>
      <p:sp>
        <p:nvSpPr>
          <p:cNvPr id="167" name="Google Shape;167;p37">
            <a:extLst>
              <a:ext uri="{FF2B5EF4-FFF2-40B4-BE49-F238E27FC236}">
                <a16:creationId xmlns:a16="http://schemas.microsoft.com/office/drawing/2014/main" id="{0F6DD710-6EFE-AC6F-E686-29601997E86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 flipH="1">
            <a:off x="720075" y="540000"/>
            <a:ext cx="5823600" cy="4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/>
              <a:t>Hardware - Shelly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000"/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DCB48886-BF1B-E61F-B340-5812CF951C9C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7CB839B8-D838-2FA0-D914-09BB93F8332A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5CDDD485-956F-7DAD-4B91-16F219EEAC94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373DA8D-E56F-DE5F-919D-87989228C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8E98AE6-0B37-FBCE-2EDC-6A34FDC2A30E}"/>
              </a:ext>
            </a:extLst>
          </p:cNvPr>
          <p:cNvSpPr txBox="1"/>
          <p:nvPr/>
        </p:nvSpPr>
        <p:spPr>
          <a:xfrm>
            <a:off x="510860" y="1149724"/>
            <a:ext cx="4078355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WLAN-fähiges Relais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Empfängt Steuerbefehl über WLAN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Kommuniziert über eine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Verbindet Software mit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Konfigurierbar mittels eigener Website</a:t>
            </a:r>
            <a:endParaRPr lang="de-AT" sz="2000"/>
          </a:p>
          <a:p>
            <a:endParaRPr lang="de-DE"/>
          </a:p>
        </p:txBody>
      </p:sp>
      <p:pic>
        <p:nvPicPr>
          <p:cNvPr id="5" name="Grafik 4" descr="The image shows a complex electrical setup with various components including LED drivers, protection devices, and a Shelly Gen4 smart switch.&#10;&#10;KI-generierte Inhalte können fehlerhaft sein.">
            <a:extLst>
              <a:ext uri="{FF2B5EF4-FFF2-40B4-BE49-F238E27FC236}">
                <a16:creationId xmlns:a16="http://schemas.microsoft.com/office/drawing/2014/main" id="{22A5E4C4-D597-3FA4-CCC0-857897756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798" y="441226"/>
            <a:ext cx="2769337" cy="3692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392D5A5-5F5C-E1E5-7BF4-1170DB6CD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4115" y="3279449"/>
            <a:ext cx="1523205" cy="173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88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56BCAA79-1A2D-F2EE-A0CF-9BECE22A4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C34F40F5-A88B-6383-F648-7D296669762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TECHNISCHE MITTEL</a:t>
            </a:r>
            <a:endParaRPr/>
          </a:p>
        </p:txBody>
      </p:sp>
      <p:sp>
        <p:nvSpPr>
          <p:cNvPr id="167" name="Google Shape;167;p37">
            <a:extLst>
              <a:ext uri="{FF2B5EF4-FFF2-40B4-BE49-F238E27FC236}">
                <a16:creationId xmlns:a16="http://schemas.microsoft.com/office/drawing/2014/main" id="{3241F7CC-E87D-F47F-79BE-7A57A1A5218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 flipH="1">
            <a:off x="714350" y="559650"/>
            <a:ext cx="5823600" cy="4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/>
              <a:t>Hardware – Shelly - Konfiguration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000"/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4918A5FC-674E-AAE5-3CFE-53BEB5DBCDD5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4F481ACB-FFDA-CAE2-0BF7-A9F068BD9F7E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B0D4E0D7-0B81-4665-677F-0D959051DE15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FC02E38-1FEE-6FCE-A5AD-6BFAFCCDA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7CDBB96-36E0-7B61-F92A-013C08BDC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2074" y="3297251"/>
            <a:ext cx="1408403" cy="160128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531ED40-573A-BC70-554D-BC7C5AAA7D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832" y="1059892"/>
            <a:ext cx="6231175" cy="386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2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D827004C-24F4-AFF1-3C5A-4100BCA0D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4851C08C-546C-63FF-5D47-53F55539954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TECHNISCHE MITTEL</a:t>
            </a:r>
            <a:endParaRPr/>
          </a:p>
        </p:txBody>
      </p:sp>
      <p:sp>
        <p:nvSpPr>
          <p:cNvPr id="167" name="Google Shape;167;p37">
            <a:extLst>
              <a:ext uri="{FF2B5EF4-FFF2-40B4-BE49-F238E27FC236}">
                <a16:creationId xmlns:a16="http://schemas.microsoft.com/office/drawing/2014/main" id="{6C912BCD-E38E-0FF9-DCEE-1DCA17E6985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 flipH="1">
            <a:off x="720075" y="540000"/>
            <a:ext cx="5823600" cy="4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/>
              <a:t>Software - Einführung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2000"/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Frontend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Backend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Datenbank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Docker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Shelly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000"/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21F88B95-E200-0584-0EFD-34915C1CD2E1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F4CA3BB9-0696-BE2E-BD10-484B299AD8D9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90CF84CD-B061-BB07-D61A-B89B116EFA22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F0A7A39-9CE2-A219-2D6B-7674A0B1A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233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1C716003-7E12-04A1-9AC9-3017BCFD9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674346CB-FBCF-DC78-5558-992D8FD7B79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TECHNISCHE MITTEL</a:t>
            </a:r>
            <a:endParaRPr/>
          </a:p>
        </p:txBody>
      </p:sp>
      <p:sp>
        <p:nvSpPr>
          <p:cNvPr id="167" name="Google Shape;167;p37">
            <a:extLst>
              <a:ext uri="{FF2B5EF4-FFF2-40B4-BE49-F238E27FC236}">
                <a16:creationId xmlns:a16="http://schemas.microsoft.com/office/drawing/2014/main" id="{89E33B4C-DADA-C740-E355-E5580915D2E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 flipH="1">
            <a:off x="720073" y="540000"/>
            <a:ext cx="6595125" cy="46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/>
              <a:t>Software - Frontend</a:t>
            </a:r>
          </a:p>
          <a:p>
            <a:pPr marL="0" lvl="0" indent="0">
              <a:lnSpc>
                <a:spcPct val="115000"/>
              </a:lnSpc>
              <a:buNone/>
            </a:pPr>
            <a:r>
              <a:rPr lang="de-DE" sz="2000"/>
              <a:t>HTML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Grundgerüst der Website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Erstellt die Benutzeroberfläche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Zeigt Raumansicht und Bedienelemente an</a:t>
            </a:r>
          </a:p>
          <a:p>
            <a:pPr marL="0" lvl="0" indent="0">
              <a:lnSpc>
                <a:spcPct val="115000"/>
              </a:lnSpc>
              <a:buNone/>
            </a:pPr>
            <a:r>
              <a:rPr lang="de-DE" sz="2000"/>
              <a:t>CSS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Gestaltet das Aussehen der Website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Definiert Farben, Schriftarten und Layout - KI</a:t>
            </a:r>
          </a:p>
          <a:p>
            <a:pPr marL="0" lvl="0" indent="0">
              <a:lnSpc>
                <a:spcPct val="115000"/>
              </a:lnSpc>
              <a:buNone/>
            </a:pPr>
            <a:r>
              <a:rPr lang="de-DE" sz="2000"/>
              <a:t>JavaScript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Macht die Website interaktiv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Schaltet Lichter per Klick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Lädt Statusdaten automatisch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Aktualisiert die Historie ohne </a:t>
            </a:r>
            <a:r>
              <a:rPr lang="de-DE" sz="2000" err="1"/>
              <a:t>Neuladen</a:t>
            </a:r>
            <a:endParaRPr lang="de-DE" sz="2000"/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DDC3CD78-A3EF-FE0B-9EAD-708E9A8D064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F3AD2356-B273-5B52-9DD3-EFFF5A68FCE4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E420A37-7235-1FA3-BD2F-B9E22ED5529C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D0D0D42-6A56-5F84-630C-112991366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94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221C804F-9537-9882-18DF-0B9DFDB8A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65EAB8C7-9CE9-F5E0-056A-4CDA49DD7A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TECHNISCHE MITTEL</a:t>
            </a:r>
            <a:endParaRPr/>
          </a:p>
        </p:txBody>
      </p:sp>
      <p:sp>
        <p:nvSpPr>
          <p:cNvPr id="167" name="Google Shape;167;p37">
            <a:extLst>
              <a:ext uri="{FF2B5EF4-FFF2-40B4-BE49-F238E27FC236}">
                <a16:creationId xmlns:a16="http://schemas.microsoft.com/office/drawing/2014/main" id="{DFAC9B8A-EDDE-931A-6EC0-75ABB249A27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 flipH="1">
            <a:off x="720073" y="540000"/>
            <a:ext cx="6595125" cy="46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/>
              <a:t>Software – Backend</a:t>
            </a:r>
          </a:p>
          <a:p>
            <a:pPr marL="0" lvl="0" indent="0">
              <a:lnSpc>
                <a:spcPct val="115000"/>
              </a:lnSpc>
              <a:buNone/>
            </a:pPr>
            <a:r>
              <a:rPr lang="de-DE" sz="2000"/>
              <a:t>PHP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Serverseitige Programmiersprache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Verarbeitet Anfragen der Website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Kommuniziert mit der Datenbank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Steuert die Shelly-Geräte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Gibt Daten an das Frontend zurück</a:t>
            </a:r>
          </a:p>
          <a:p>
            <a:pPr marL="0" lvl="0" indent="0">
              <a:lnSpc>
                <a:spcPct val="115000"/>
              </a:lnSpc>
              <a:buNone/>
            </a:pPr>
            <a:r>
              <a:rPr lang="de-DE" sz="2000"/>
              <a:t>PostgreSQL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Datenbank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Speichert Lichtzustände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Speichert die Schalthistorie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Stellt Daten für die Website bereit</a:t>
            </a:r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828CFB24-4566-6E3C-797B-262479DBE07F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D3577CCA-6738-85F2-EA89-6EE126C48E62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FE5D950E-D692-B8E3-D1A2-71763890E2B3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35BEDD8-6E43-D61D-BFC2-13F20CD1C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132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DACAD416-5A39-59D1-C5B6-4168CA464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72C2967D-06ED-2545-4AE5-D10CF7D483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TECHNISCHE MITTEL</a:t>
            </a:r>
            <a:endParaRPr/>
          </a:p>
        </p:txBody>
      </p:sp>
      <p:sp>
        <p:nvSpPr>
          <p:cNvPr id="167" name="Google Shape;167;p37">
            <a:extLst>
              <a:ext uri="{FF2B5EF4-FFF2-40B4-BE49-F238E27FC236}">
                <a16:creationId xmlns:a16="http://schemas.microsoft.com/office/drawing/2014/main" id="{0B66AC21-DBB1-4900-C123-1A6175DBCAA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 flipH="1">
            <a:off x="720073" y="540000"/>
            <a:ext cx="6595125" cy="46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/>
              <a:t>Software – Docker &amp; Shelly</a:t>
            </a:r>
          </a:p>
          <a:p>
            <a:pPr marL="0" lvl="0" indent="0">
              <a:lnSpc>
                <a:spcPct val="115000"/>
              </a:lnSpc>
              <a:buNone/>
            </a:pPr>
            <a:r>
              <a:rPr lang="de-DE" sz="2000"/>
              <a:t>Docker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Container-Plattform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Startet Webserver und Datenbank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Vereinfacht Installation und Betrieb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Einheitliche &amp; bekannte Entwicklungsumgebung</a:t>
            </a:r>
          </a:p>
          <a:p>
            <a:pPr marL="0" lvl="0" indent="0">
              <a:lnSpc>
                <a:spcPct val="115000"/>
              </a:lnSpc>
              <a:buNone/>
            </a:pPr>
            <a:r>
              <a:rPr lang="de-DE" sz="2000"/>
              <a:t>Shelly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WLAN-fähiges Relaismodul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Empfängt Befehle über das Netzwerk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Schaltet die angeschlossenen Lichter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Verbindung zwischen Software und Hardware</a:t>
            </a:r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8E670B43-6CB9-C8FE-CD18-22D4A56FA81D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B51D6A8E-1A81-1C16-B7C1-D75890C91C16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6D58A1D-89F4-83D2-F757-02AE7103CE0F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3F5E6D0-01A9-7CBF-EA11-8848A8B08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67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B4005D88-4B53-76BE-3057-A538ED0F3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085B0AC0-3472-BD39-074F-3AA50390B3E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TECHNISCHE MITTEL</a:t>
            </a:r>
            <a:endParaRPr/>
          </a:p>
        </p:txBody>
      </p:sp>
      <p:sp>
        <p:nvSpPr>
          <p:cNvPr id="167" name="Google Shape;167;p37">
            <a:extLst>
              <a:ext uri="{FF2B5EF4-FFF2-40B4-BE49-F238E27FC236}">
                <a16:creationId xmlns:a16="http://schemas.microsoft.com/office/drawing/2014/main" id="{70DEF866-C92A-FD7C-9F70-35FC91B7F60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 flipH="1">
            <a:off x="720075" y="540000"/>
            <a:ext cx="5823600" cy="4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/>
              <a:t>Software - CODE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tamaran Medium"/>
              <a:buAutoNum type="arabicPeriod"/>
            </a:pPr>
            <a:r>
              <a:rPr lang="de-DE" sz="2000"/>
              <a:t>SIEHE VSC, </a:t>
            </a:r>
            <a:r>
              <a:rPr lang="de-DE" sz="2000" err="1"/>
              <a:t>DataGrip</a:t>
            </a:r>
            <a:r>
              <a:rPr lang="de-DE" sz="2000"/>
              <a:t> &amp; Docker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000"/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5C2606BA-B1B1-FFA6-D093-FADD1CC5EEBC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05B51371-A763-7365-C5D6-D3E3116C3893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C937BEBF-87F7-EBDF-297B-807E6520ADE3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E716B6B-7D4F-2F47-AA99-DC240EEDF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33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0A7EBA46-1CEF-1B6B-182B-90292AA71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265BDC5E-A80A-2453-F95A-49148C4246E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 PROJEKT ZIEL</a:t>
            </a:r>
            <a:endParaRPr/>
          </a:p>
        </p:txBody>
      </p:sp>
      <p:sp>
        <p:nvSpPr>
          <p:cNvPr id="167" name="Google Shape;167;p37">
            <a:extLst>
              <a:ext uri="{FF2B5EF4-FFF2-40B4-BE49-F238E27FC236}">
                <a16:creationId xmlns:a16="http://schemas.microsoft.com/office/drawing/2014/main" id="{718E1F55-5199-7B44-2DE7-F2F92AC91AB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 flipH="1">
            <a:off x="720075" y="540000"/>
            <a:ext cx="5823600" cy="46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/>
              <a:t>Das ZIEL</a:t>
            </a:r>
            <a:endParaRPr lang="de-AT" sz="2000"/>
          </a:p>
          <a:p>
            <a:pPr marL="0" indent="0">
              <a:buNone/>
            </a:pPr>
            <a:r>
              <a:rPr lang="de-DE" sz="2000"/>
              <a:t>Muss-Ziele</a:t>
            </a:r>
          </a:p>
          <a:p>
            <a:pPr marL="342900" indent="-342900"/>
            <a:r>
              <a:rPr lang="de-DE" sz="2000"/>
              <a:t>Licht über Website steuerbar</a:t>
            </a:r>
          </a:p>
          <a:p>
            <a:pPr marL="342900" indent="-342900"/>
            <a:r>
              <a:rPr lang="de-DE" sz="2000"/>
              <a:t>Speicherung aller Änderungen in PostgreSQL</a:t>
            </a:r>
          </a:p>
          <a:p>
            <a:pPr marL="342900" indent="-342900"/>
            <a:r>
              <a:rPr lang="de-DE" sz="2000"/>
              <a:t>Anzeige des aktuellen Lichtstatus</a:t>
            </a:r>
          </a:p>
          <a:p>
            <a:pPr marL="342900" indent="-342900"/>
            <a:r>
              <a:rPr lang="de-DE" sz="2000"/>
              <a:t>Anzeige der Historie</a:t>
            </a:r>
          </a:p>
          <a:p>
            <a:pPr marL="0" indent="0">
              <a:buNone/>
            </a:pPr>
            <a:r>
              <a:rPr lang="de-DE" sz="2000"/>
              <a:t>Soll-Ziele</a:t>
            </a:r>
          </a:p>
          <a:p>
            <a:pPr marL="342900" indent="-342900"/>
            <a:r>
              <a:rPr lang="de-DE" sz="2000"/>
              <a:t>Einfache und übersichtliche Bedienung</a:t>
            </a:r>
          </a:p>
          <a:p>
            <a:pPr marL="342900" indent="-342900"/>
            <a:r>
              <a:rPr lang="de-DE" sz="2000"/>
              <a:t>Ansteuerung der Shelly-Geräte</a:t>
            </a:r>
          </a:p>
          <a:p>
            <a:pPr marL="0" indent="0">
              <a:buNone/>
            </a:pPr>
            <a:r>
              <a:rPr lang="de-DE" sz="2000"/>
              <a:t>Kann-Ziele</a:t>
            </a:r>
          </a:p>
          <a:p>
            <a:pPr marL="342900" indent="-342900"/>
            <a:r>
              <a:rPr lang="de-DE" sz="2000"/>
              <a:t>Benutzerverwaltung</a:t>
            </a:r>
          </a:p>
          <a:p>
            <a:pPr marL="342900" indent="-342900"/>
            <a:r>
              <a:rPr lang="de-DE" sz="2000"/>
              <a:t>Zeitpläne und Szenen</a:t>
            </a:r>
            <a:endParaRPr lang="de-AT" sz="20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000"/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2F29E9AA-6C1F-64E2-C7AF-25D9D714BCE7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B723AE9E-3FAE-5A09-321E-5BBD5FD10EB8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7">
            <a:extLst>
              <a:ext uri="{FF2B5EF4-FFF2-40B4-BE49-F238E27FC236}">
                <a16:creationId xmlns:a16="http://schemas.microsoft.com/office/drawing/2014/main" id="{0F412E90-C07B-17D1-7D1E-469A5DBC6C91}"/>
              </a:ext>
            </a:extLst>
          </p:cNvPr>
          <p:cNvSpPr txBox="1"/>
          <p:nvPr/>
        </p:nvSpPr>
        <p:spPr>
          <a:xfrm>
            <a:off x="714350" y="4124800"/>
            <a:ext cx="62142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atamaran ExtraLight"/>
              <a:ea typeface="Catamaran ExtraLight"/>
              <a:cs typeface="Catamaran ExtraLight"/>
              <a:sym typeface="Catamaran ExtraLight"/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8A0F266-F988-697E-D59C-E92140487EC7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F7DDBB3-E202-8C20-2471-D348CC917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76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FDA097A5-CDEB-2F3B-A1F5-8BB84926A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CFC1B239-E45D-34B1-755A-F52CA303E36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</a:t>
            </a:r>
            <a:endParaRPr/>
          </a:p>
        </p:txBody>
      </p:sp>
      <p:sp>
        <p:nvSpPr>
          <p:cNvPr id="167" name="Google Shape;167;p37">
            <a:extLst>
              <a:ext uri="{FF2B5EF4-FFF2-40B4-BE49-F238E27FC236}">
                <a16:creationId xmlns:a16="http://schemas.microsoft.com/office/drawing/2014/main" id="{5DDBE0FA-C601-5BA3-047F-1078171CC2D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 flipH="1">
            <a:off x="720075" y="540000"/>
            <a:ext cx="5823600" cy="4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/>
              <a:t>Probleme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r>
              <a:rPr lang="de-DE" sz="2000"/>
              <a:t>Kommunikationsproblem</a:t>
            </a:r>
          </a:p>
          <a:p>
            <a:r>
              <a:rPr lang="de-DE" sz="2000"/>
              <a:t>Teameinbindung (zu groß)</a:t>
            </a:r>
          </a:p>
          <a:p>
            <a:r>
              <a:rPr lang="de-DE" sz="2000"/>
              <a:t>Interne und externe Ablenkungen</a:t>
            </a:r>
          </a:p>
          <a:p>
            <a:r>
              <a:rPr lang="de-AT" sz="2000"/>
              <a:t>Internetprobleme (Verbindungsaufbau)</a:t>
            </a:r>
          </a:p>
          <a:p>
            <a:r>
              <a:rPr lang="de-AT" sz="2000"/>
              <a:t>Zu großes Team  für kleines Projekt</a:t>
            </a:r>
          </a:p>
          <a:p>
            <a:r>
              <a:rPr lang="de-AT" sz="2000"/>
              <a:t>Testen der Hardware = großer Zeitaufwand</a:t>
            </a:r>
          </a:p>
          <a:p>
            <a:r>
              <a:rPr lang="de-AT" sz="2000"/>
              <a:t>Hoher Einarbeitungsaufwand in PHP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000"/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9275D9CC-D09C-104E-ABF1-45CE36793068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41A3BEE1-F19E-DFE7-1ADF-70AEEC26DB98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32CA057F-7AE0-6A16-1524-EA4CAF050073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AB0901E-3E1A-37B0-0AA7-2F837532B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15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CC05E2E4-6E98-969E-B5CB-1C7F4049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CB1A0FD8-9278-E8FC-1495-3560F96BD4F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LESSONS LEARNED</a:t>
            </a:r>
            <a:endParaRPr/>
          </a:p>
        </p:txBody>
      </p:sp>
      <p:sp>
        <p:nvSpPr>
          <p:cNvPr id="167" name="Google Shape;167;p37">
            <a:extLst>
              <a:ext uri="{FF2B5EF4-FFF2-40B4-BE49-F238E27FC236}">
                <a16:creationId xmlns:a16="http://schemas.microsoft.com/office/drawing/2014/main" id="{4D1DB636-157D-13B9-CEE7-BDDBE6971AA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 flipH="1">
            <a:off x="720075" y="540000"/>
            <a:ext cx="5823600" cy="4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/>
              <a:t>Was haben wir gut gemacht?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r>
              <a:rPr lang="de-DE" sz="2000"/>
              <a:t>Kein zu komplexes Ziel gesetzt</a:t>
            </a:r>
          </a:p>
          <a:p>
            <a:r>
              <a:rPr lang="de-DE" sz="2000"/>
              <a:t>Meilensteine vorzeitig erreicht</a:t>
            </a:r>
          </a:p>
          <a:p>
            <a:r>
              <a:rPr lang="de-DE" sz="2000"/>
              <a:t>Überschüssige Zeit teilweise genutzt</a:t>
            </a:r>
          </a:p>
          <a:p>
            <a:r>
              <a:rPr lang="de-DE" sz="2000"/>
              <a:t>Gute Ordnerstruktur</a:t>
            </a:r>
          </a:p>
          <a:p>
            <a:r>
              <a:rPr lang="de-DE" sz="2000"/>
              <a:t>Effizient gearbeitet</a:t>
            </a:r>
          </a:p>
          <a:p>
            <a:r>
              <a:rPr lang="de-DE" sz="2000"/>
              <a:t>Realistische Zeitplanung</a:t>
            </a:r>
          </a:p>
          <a:p>
            <a:r>
              <a:rPr lang="de-DE" sz="2000"/>
              <a:t>Saubere Trennung von Front- &amp; Backend</a:t>
            </a:r>
          </a:p>
          <a:p>
            <a:r>
              <a:rPr lang="de-DE" sz="2000"/>
              <a:t>Gute Dokumentation des Projekts</a:t>
            </a:r>
          </a:p>
          <a:p>
            <a:r>
              <a:rPr lang="de-DE" sz="2000"/>
              <a:t>Regelmäßige Daten- &amp; Situationssicherung über Git &amp; Status Reporte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000"/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D30F91F9-B51F-5DB9-4F9E-52E12AE533E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E8732E04-1DC5-F7E6-2826-A8B65BB7092C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42C6EC09-2E55-B941-B07C-85FCA807C57A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25BEADB-56BD-4A7A-2E01-97C65BD38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761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56726C98-95CE-7B4D-4D47-DC9AFFF84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D17BF82A-6F6E-C189-3549-87FFE2699F6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LESSONS LEARNED</a:t>
            </a:r>
            <a:endParaRPr/>
          </a:p>
        </p:txBody>
      </p:sp>
      <p:sp>
        <p:nvSpPr>
          <p:cNvPr id="167" name="Google Shape;167;p37">
            <a:extLst>
              <a:ext uri="{FF2B5EF4-FFF2-40B4-BE49-F238E27FC236}">
                <a16:creationId xmlns:a16="http://schemas.microsoft.com/office/drawing/2014/main" id="{3934C6FC-C097-A5F8-925C-32DB37DC026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 flipH="1">
            <a:off x="720075" y="540000"/>
            <a:ext cx="5823600" cy="4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/>
              <a:t>Was haben wir mitgenommen?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2000"/>
          </a:p>
          <a:p>
            <a:r>
              <a:rPr lang="de-DE" sz="2000"/>
              <a:t>Mehr kommunizieren </a:t>
            </a:r>
          </a:p>
          <a:p>
            <a:r>
              <a:rPr lang="de-DE" sz="2000"/>
              <a:t>bessere Aufgabenverteilung</a:t>
            </a:r>
          </a:p>
          <a:p>
            <a:r>
              <a:rPr lang="de-DE" sz="2000"/>
              <a:t>Weniger auf Ablenkung einlassen</a:t>
            </a:r>
          </a:p>
          <a:p>
            <a:r>
              <a:rPr lang="de-DE" sz="2000"/>
              <a:t>Projektaufwand von Teamgröße abhängig machen</a:t>
            </a:r>
          </a:p>
          <a:p>
            <a:r>
              <a:rPr lang="de-DE" sz="2000"/>
              <a:t>Probleme direkt ansprechen</a:t>
            </a:r>
          </a:p>
          <a:p>
            <a:r>
              <a:rPr lang="de-DE" sz="2000"/>
              <a:t>Kleine Teilziele erleichtern Entwicklung &amp; stärken Arbeitsmoral</a:t>
            </a:r>
          </a:p>
          <a:p>
            <a:r>
              <a:rPr lang="de-DE" sz="2000"/>
              <a:t>Dokumentation parallel zur Entwicklung erstellen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2EB92040-9BDC-CB86-CC66-AA65E2E9542C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26F800F5-FC65-D47D-87DC-CED40B838384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D1128AB3-4C89-C875-7747-AE78D0A3A275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36DDCAE-28D3-7787-DD6C-D7C6A016C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058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BCED9996-7437-F28F-8C44-B2FC1832A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>
            <a:extLst>
              <a:ext uri="{FF2B5EF4-FFF2-40B4-BE49-F238E27FC236}">
                <a16:creationId xmlns:a16="http://schemas.microsoft.com/office/drawing/2014/main" id="{BB62E745-6FE0-8D21-3772-A0997BE8D34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LESSONS LEARNED</a:t>
            </a:r>
            <a:endParaRPr/>
          </a:p>
        </p:txBody>
      </p:sp>
      <p:sp>
        <p:nvSpPr>
          <p:cNvPr id="167" name="Google Shape;167;p37">
            <a:extLst>
              <a:ext uri="{FF2B5EF4-FFF2-40B4-BE49-F238E27FC236}">
                <a16:creationId xmlns:a16="http://schemas.microsoft.com/office/drawing/2014/main" id="{76172777-D758-EB23-11AF-37D71D8512D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 flipH="1">
            <a:off x="720075" y="540000"/>
            <a:ext cx="5823600" cy="4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/>
              <a:t>Erkenntnisse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2000"/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Einfache Projekte = meist erfolgreicher als überladene Projekt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Gute Planung spart später viel Zeit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Hardware- &amp; Software müssen meist gemeinsam getestet werden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Klare Projektstruktur sorgt für bessere Zusammenarbeit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Git = vereinfacht Versionsverwaltung</a:t>
            </a:r>
          </a:p>
          <a:p>
            <a:pPr marL="342900" indent="-342900">
              <a:lnSpc>
                <a:spcPct val="115000"/>
              </a:lnSpc>
            </a:pPr>
            <a:r>
              <a:rPr lang="de-DE" sz="2000"/>
              <a:t>Backups vor großen Änderungen = SEHR WICHTIG</a:t>
            </a:r>
            <a:endParaRPr sz="2000"/>
          </a:p>
        </p:txBody>
      </p:sp>
      <p:sp>
        <p:nvSpPr>
          <p:cNvPr id="168" name="Google Shape;168;p37">
            <a:extLst>
              <a:ext uri="{FF2B5EF4-FFF2-40B4-BE49-F238E27FC236}">
                <a16:creationId xmlns:a16="http://schemas.microsoft.com/office/drawing/2014/main" id="{0ADF8626-94B0-2D4A-71E6-41DB35AF0305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2CFE16AD-0D57-AB34-86DC-8E34709192AF}"/>
              </a:ext>
            </a:extLst>
          </p:cNvPr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D9A9D4C5-428C-71A5-8828-05396E62F735}"/>
              </a:ext>
            </a:extLst>
          </p:cNvPr>
          <p:cNvSpPr/>
          <p:nvPr/>
        </p:nvSpPr>
        <p:spPr>
          <a:xfrm>
            <a:off x="8041780" y="4015150"/>
            <a:ext cx="804987" cy="804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4F3E0C2-B53C-8764-7B80-B10A762BC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80" y="4015150"/>
            <a:ext cx="804987" cy="8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98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FF9D6E8F-0531-E210-5E03-65A18BCD5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6">
            <a:extLst>
              <a:ext uri="{FF2B5EF4-FFF2-40B4-BE49-F238E27FC236}">
                <a16:creationId xmlns:a16="http://schemas.microsoft.com/office/drawing/2014/main" id="{BC7606EC-6F6D-1B50-1AF0-571F102D4C2F}"/>
              </a:ext>
            </a:extLst>
          </p:cNvPr>
          <p:cNvSpPr/>
          <p:nvPr/>
        </p:nvSpPr>
        <p:spPr>
          <a:xfrm rot="5400000">
            <a:off x="1428875" y="13850"/>
            <a:ext cx="3358800" cy="5026500"/>
          </a:xfrm>
          <a:prstGeom prst="rect">
            <a:avLst/>
          </a:prstGeom>
          <a:solidFill>
            <a:srgbClr val="00B0F0">
              <a:alpha val="86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6">
            <a:extLst>
              <a:ext uri="{FF2B5EF4-FFF2-40B4-BE49-F238E27FC236}">
                <a16:creationId xmlns:a16="http://schemas.microsoft.com/office/drawing/2014/main" id="{983963AA-F228-6D34-780E-1CC615CF81E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25778" y="3374690"/>
            <a:ext cx="3532424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>
                <a:solidFill>
                  <a:schemeClr val="lt1"/>
                </a:solidFill>
              </a:rPr>
              <a:t>Ein Projekt von Alexander Wöhrer, Julian Tschiltsch, Felix Huber &amp; Philipp Figl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>
                <a:solidFill>
                  <a:schemeClr val="lt1"/>
                </a:solidFill>
              </a:rPr>
              <a:t>Betreut von Prof. Uhrmann</a:t>
            </a:r>
          </a:p>
        </p:txBody>
      </p:sp>
      <p:sp>
        <p:nvSpPr>
          <p:cNvPr id="160" name="Google Shape;160;p36">
            <a:extLst>
              <a:ext uri="{FF2B5EF4-FFF2-40B4-BE49-F238E27FC236}">
                <a16:creationId xmlns:a16="http://schemas.microsoft.com/office/drawing/2014/main" id="{4AC00D51-B779-1234-6CB7-C12BBE2D372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04439" y="1537385"/>
            <a:ext cx="3891139" cy="18646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 sz="4000">
                <a:solidFill>
                  <a:schemeClr val="lt1"/>
                </a:solidFill>
                <a:latin typeface="Livvic"/>
                <a:ea typeface="Livvic"/>
                <a:cs typeface="Livvic"/>
                <a:sym typeface="Livvic"/>
              </a:rPr>
              <a:t>VIELEN DANK</a:t>
            </a:r>
            <a:br>
              <a:rPr lang="de-AT" sz="4000">
                <a:latin typeface="Livvic"/>
                <a:ea typeface="Livvic"/>
                <a:cs typeface="Livvic"/>
              </a:rPr>
            </a:br>
            <a:r>
              <a:rPr lang="de-AT" sz="4000">
                <a:solidFill>
                  <a:schemeClr val="lt1"/>
                </a:solidFill>
                <a:latin typeface="Livvic"/>
                <a:ea typeface="Livvic"/>
                <a:cs typeface="Livvic"/>
                <a:sym typeface="Livvic"/>
              </a:rPr>
              <a:t>FÜR EURE</a:t>
            </a:r>
            <a:br>
              <a:rPr lang="de-AT" sz="4000">
                <a:latin typeface="Livvic"/>
                <a:ea typeface="Livvic"/>
                <a:cs typeface="Livvic"/>
              </a:rPr>
            </a:br>
            <a:r>
              <a:rPr lang="de-AT" sz="4000">
                <a:solidFill>
                  <a:schemeClr val="lt1"/>
                </a:solidFill>
              </a:rPr>
              <a:t>AUFMERKSAMKEIT</a:t>
            </a:r>
            <a:endParaRPr sz="4000">
              <a:solidFill>
                <a:schemeClr val="lt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7F31B1AC-D31B-F9FE-E411-854F538AA35E}"/>
              </a:ext>
            </a:extLst>
          </p:cNvPr>
          <p:cNvSpPr/>
          <p:nvPr/>
        </p:nvSpPr>
        <p:spPr>
          <a:xfrm>
            <a:off x="4788955" y="491925"/>
            <a:ext cx="4070350" cy="40703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8257159-EEAE-777B-931A-0C6433115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023" y="581224"/>
            <a:ext cx="3880905" cy="388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04803"/>
      </p:ext>
    </p:extLst>
  </p:cSld>
  <p:clrMapOvr>
    <a:masterClrMapping/>
  </p:clrMapOvr>
</p:sld>
</file>

<file path=ppt/theme/theme1.xml><?xml version="1.0" encoding="utf-8"?>
<a:theme xmlns:a="http://schemas.openxmlformats.org/drawingml/2006/main" name="Engineering Project Proposal by Slidesgo">
  <a:themeElements>
    <a:clrScheme name="Benutzerdefiniert 8">
      <a:dk1>
        <a:sysClr val="windowText" lastClr="000000"/>
      </a:dk1>
      <a:lt1>
        <a:sysClr val="window" lastClr="FFFFFF"/>
      </a:lt1>
      <a:dk2>
        <a:srgbClr val="58B46C"/>
      </a:dk2>
      <a:lt2>
        <a:srgbClr val="58B46C"/>
      </a:lt2>
      <a:accent1>
        <a:srgbClr val="58B46C"/>
      </a:accent1>
      <a:accent2>
        <a:srgbClr val="58B46C"/>
      </a:accent2>
      <a:accent3>
        <a:srgbClr val="58B46C"/>
      </a:accent3>
      <a:accent4>
        <a:srgbClr val="58B46C"/>
      </a:accent4>
      <a:accent5>
        <a:srgbClr val="58B46C"/>
      </a:accent5>
      <a:accent6>
        <a:srgbClr val="58B46C"/>
      </a:accent6>
      <a:hlink>
        <a:srgbClr val="58B46C"/>
      </a:hlink>
      <a:folHlink>
        <a:srgbClr val="58B4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xt_x0020_eingeben xmlns="9164f78b-a84d-48e5-8736-9cc9e03ea89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719CA7ADCC36946811CBA183234432E" ma:contentTypeVersion="6" ma:contentTypeDescription="Ein neues Dokument erstellen." ma:contentTypeScope="" ma:versionID="8019243b21e22c19801aeeea7d5817f5">
  <xsd:schema xmlns:xsd="http://www.w3.org/2001/XMLSchema" xmlns:xs="http://www.w3.org/2001/XMLSchema" xmlns:p="http://schemas.microsoft.com/office/2006/metadata/properties" xmlns:ns2="9164f78b-a84d-48e5-8736-9cc9e03ea893" targetNamespace="http://schemas.microsoft.com/office/2006/metadata/properties" ma:root="true" ma:fieldsID="6cebab7d14667b50e2441d9db0afbfa1" ns2:_="">
    <xsd:import namespace="9164f78b-a84d-48e5-8736-9cc9e03ea8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Text_x0020_eingeb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4f78b-a84d-48e5-8736-9cc9e03ea8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ext_x0020_eingeben" ma:index="11" nillable="true" ma:displayName="Text eingeben" ma:internalName="Text_x0020_eingeben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548352-D5DB-4E95-80F4-DAF925A2F19B}">
  <ds:schemaRefs>
    <ds:schemaRef ds:uri="9164f78b-a84d-48e5-8736-9cc9e03ea893"/>
    <ds:schemaRef ds:uri="b4b26381-6437-4e99-879d-032512bd8ec3"/>
    <ds:schemaRef ds:uri="f14eec79-e49b-43ad-be22-bd010d53cc9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B8ED2D9-B7BD-4FEF-ADF6-7F7B7AD473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507AE0-EE64-4F1B-AA92-3D3AC4A82C77}">
  <ds:schemaRefs>
    <ds:schemaRef ds:uri="9164f78b-a84d-48e5-8736-9cc9e03ea89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</Words>
  <Application>Microsoft Office PowerPoint</Application>
  <PresentationFormat>Bildschirmpräsentation (16:9)</PresentationFormat>
  <Paragraphs>206</Paragraphs>
  <Slides>21</Slides>
  <Notes>21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9" baseType="lpstr">
      <vt:lpstr>Catamaran Medium</vt:lpstr>
      <vt:lpstr>Nunito Light</vt:lpstr>
      <vt:lpstr>Livvic</vt:lpstr>
      <vt:lpstr>Fira Sans Extra Condensed Medium</vt:lpstr>
      <vt:lpstr>Catamaran Light</vt:lpstr>
      <vt:lpstr>Arial</vt:lpstr>
      <vt:lpstr>Catamaran ExtraLight</vt:lpstr>
      <vt:lpstr>Engineering Project Proposal by Slidesgo</vt:lpstr>
      <vt:lpstr>MedTrack</vt:lpstr>
      <vt:lpstr>VIDEO ABSCHNITT</vt:lpstr>
      <vt:lpstr>LESSONS LEARNED</vt:lpstr>
      <vt:lpstr>ÜBER UNSER PROJEKT</vt:lpstr>
      <vt:lpstr>ÜBER UNSER PROJEKT</vt:lpstr>
      <vt:lpstr>ÜBER UNSER PROJEKT</vt:lpstr>
      <vt:lpstr>TECHNISCHE MITTEL</vt:lpstr>
      <vt:lpstr>TECHNISCHE MITTEL</vt:lpstr>
      <vt:lpstr>TECHNISCHE MITTEL</vt:lpstr>
      <vt:lpstr>TECHNISCHE MITTEL</vt:lpstr>
      <vt:lpstr>TECHNISCHE MITTEL</vt:lpstr>
      <vt:lpstr>TECHNISCHE MITTEL</vt:lpstr>
      <vt:lpstr>TECHNISCHE MITTEL</vt:lpstr>
      <vt:lpstr>TECHNISCHE MITTEL</vt:lpstr>
      <vt:lpstr>TECHNISCHE MITTEL</vt:lpstr>
      <vt:lpstr>DAS PROJEKT ZIEL</vt:lpstr>
      <vt:lpstr>LESSONS LEARNED</vt:lpstr>
      <vt:lpstr>LESSONS LEARNED</vt:lpstr>
      <vt:lpstr>LESSONS LEARNED</vt:lpstr>
      <vt:lpstr>LESSONS LEARNED</vt:lpstr>
      <vt:lpstr>VIELEN DANK FÜR EURE AUFMERKSAMKEIT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Wöhrer</dc:creator>
  <cp:lastModifiedBy>Wöhrer Alexander</cp:lastModifiedBy>
  <cp:revision>1</cp:revision>
  <dcterms:modified xsi:type="dcterms:W3CDTF">2026-09-21T06:02:05Z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0x0101003719CA7ADCC36946811CBA183234432E</vt:lpwstr>
  </property>
  <property fmtid="{D5CDD505-2E9C-101B-9397-08002B2CF9AE}" pid="3" name="Order">
    <vt:r8>2233700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</Properties>
</file>